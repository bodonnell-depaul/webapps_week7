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314" r:id="rId65"/>
    <p:sldId id="329" r:id="rId56"/>
    <p:sldId id="260" r:id="rId11"/>
    <p:sldId id="315" r:id="rId66"/>
    <p:sldId id="261" r:id="rId12"/>
    <p:sldId id="316" r:id="rId67"/>
    <p:sldId id="262" r:id="rId13"/>
    <p:sldId id="263" r:id="rId14"/>
    <p:sldId id="317" r:id="rId68"/>
    <p:sldId id="264" r:id="rId15"/>
    <p:sldId id="265" r:id="rId16"/>
    <p:sldId id="318" r:id="rId69"/>
    <p:sldId id="266" r:id="rId17"/>
    <p:sldId id="330" r:id="rId55"/>
    <p:sldId id="267" r:id="rId18"/>
    <p:sldId id="268" r:id="rId19"/>
    <p:sldId id="319" r:id="rId70"/>
    <p:sldId id="269" r:id="rId20"/>
    <p:sldId id="270" r:id="rId21"/>
    <p:sldId id="271" r:id="rId22"/>
    <p:sldId id="272" r:id="rId23"/>
    <p:sldId id="320" r:id="rId71"/>
    <p:sldId id="273" r:id="rId24"/>
    <p:sldId id="274" r:id="rId25"/>
    <p:sldId id="275" r:id="rId26"/>
    <p:sldId id="276" r:id="rId27"/>
    <p:sldId id="321" r:id="rId72"/>
    <p:sldId id="277" r:id="rId28"/>
    <p:sldId id="278" r:id="rId29"/>
    <p:sldId id="279" r:id="rId30"/>
    <p:sldId id="280" r:id="rId31"/>
    <p:sldId id="281" r:id="rId32"/>
    <p:sldId id="322" r:id="rId73"/>
    <p:sldId id="282" r:id="rId33"/>
    <p:sldId id="283" r:id="rId34"/>
    <p:sldId id="284" r:id="rId35"/>
    <p:sldId id="323" r:id="rId74"/>
    <p:sldId id="285" r:id="rId36"/>
    <p:sldId id="286" r:id="rId37"/>
    <p:sldId id="287" r:id="rId38"/>
    <p:sldId id="324" r:id="rId75"/>
    <p:sldId id="288" r:id="rId39"/>
    <p:sldId id="289" r:id="rId40"/>
    <p:sldId id="290" r:id="rId41"/>
    <p:sldId id="325" r:id="rId76"/>
    <p:sldId id="291" r:id="rId42"/>
    <p:sldId id="292" r:id="rId43"/>
    <p:sldId id="293" r:id="rId44"/>
    <p:sldId id="294" r:id="rId45"/>
    <p:sldId id="306" r:id="rId57"/>
    <p:sldId id="326" r:id="rId77"/>
    <p:sldId id="307" r:id="rId58"/>
    <p:sldId id="308" r:id="rId59"/>
    <p:sldId id="309" r:id="rId60"/>
    <p:sldId id="327" r:id="rId78"/>
    <p:sldId id="310" r:id="rId61"/>
    <p:sldId id="331" r:id="rId54"/>
    <p:sldId id="311" r:id="rId62"/>
    <p:sldId id="312" r:id="rId63"/>
    <p:sldId id="313" r:id="rId64"/>
    <p:sldId id="328" r:id="rId79"/>
    <p:sldId id="295" r:id="rId46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9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7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30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4.xml"/><Relationship Id="rId31" Type="http://schemas.openxmlformats.org/officeDocument/2006/relationships/slide" Target="slides/slide35.xml"/><Relationship Id="rId32" Type="http://schemas.openxmlformats.org/officeDocument/2006/relationships/slide" Target="slides/slide36.xml"/><Relationship Id="rId33" Type="http://schemas.openxmlformats.org/officeDocument/2006/relationships/slide" Target="slides/slide38.xml"/><Relationship Id="rId34" Type="http://schemas.openxmlformats.org/officeDocument/2006/relationships/slide" Target="slides/slide39.xml"/><Relationship Id="rId35" Type="http://schemas.openxmlformats.org/officeDocument/2006/relationships/slide" Target="slides/slide40.xml"/><Relationship Id="rId36" Type="http://schemas.openxmlformats.org/officeDocument/2006/relationships/slide" Target="slides/slide42.xml"/><Relationship Id="rId37" Type="http://schemas.openxmlformats.org/officeDocument/2006/relationships/slide" Target="slides/slide43.xml"/><Relationship Id="rId38" Type="http://schemas.openxmlformats.org/officeDocument/2006/relationships/slide" Target="slides/slide44.xml"/><Relationship Id="rId39" Type="http://schemas.openxmlformats.org/officeDocument/2006/relationships/slide" Target="slides/slide46.xml"/><Relationship Id="rId40" Type="http://schemas.openxmlformats.org/officeDocument/2006/relationships/slide" Target="slides/slide47.xml"/><Relationship Id="rId41" Type="http://schemas.openxmlformats.org/officeDocument/2006/relationships/slide" Target="slides/slide48.xml"/><Relationship Id="rId42" Type="http://schemas.openxmlformats.org/officeDocument/2006/relationships/slide" Target="slides/slide50.xml"/><Relationship Id="rId43" Type="http://schemas.openxmlformats.org/officeDocument/2006/relationships/slide" Target="slides/slide51.xml"/><Relationship Id="rId44" Type="http://schemas.openxmlformats.org/officeDocument/2006/relationships/slide" Target="slides/slide52.xml"/><Relationship Id="rId45" Type="http://schemas.openxmlformats.org/officeDocument/2006/relationships/slide" Target="slides/slide53.xml"/><Relationship Id="rId46" Type="http://schemas.openxmlformats.org/officeDocument/2006/relationships/slide" Target="slides/slide66.xml"/><Relationship Id="rId48" Type="http://schemas.openxmlformats.org/officeDocument/2006/relationships/slide" Target="slides/slide67.xml"/><Relationship Id="rId54" Type="http://schemas.openxmlformats.org/officeDocument/2006/relationships/slide" Target="slides/slide61.xml"/><Relationship Id="rId55" Type="http://schemas.openxmlformats.org/officeDocument/2006/relationships/slide" Target="slides/slide18.xml"/><Relationship Id="rId56" Type="http://schemas.openxmlformats.org/officeDocument/2006/relationships/slide" Target="slides/slide6.xml"/><Relationship Id="rId57" Type="http://schemas.openxmlformats.org/officeDocument/2006/relationships/slide" Target="slides/slide54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60.xml"/><Relationship Id="rId62" Type="http://schemas.openxmlformats.org/officeDocument/2006/relationships/slide" Target="slides/slide62.xml"/><Relationship Id="rId63" Type="http://schemas.openxmlformats.org/officeDocument/2006/relationships/slide" Target="slides/slide63.xml"/><Relationship Id="rId64" Type="http://schemas.openxmlformats.org/officeDocument/2006/relationships/slide" Target="slides/slide64.xml"/><Relationship Id="rId65" Type="http://schemas.openxmlformats.org/officeDocument/2006/relationships/slide" Target="slides/slide5.xml"/><Relationship Id="rId66" Type="http://schemas.openxmlformats.org/officeDocument/2006/relationships/slide" Target="slides/slide8.xml"/><Relationship Id="rId67" Type="http://schemas.openxmlformats.org/officeDocument/2006/relationships/slide" Target="slides/slide10.xml"/><Relationship Id="rId68" Type="http://schemas.openxmlformats.org/officeDocument/2006/relationships/slide" Target="slides/slide13.xml"/><Relationship Id="rId69" Type="http://schemas.openxmlformats.org/officeDocument/2006/relationships/slide" Target="slides/slide16.xml"/><Relationship Id="rId70" Type="http://schemas.openxmlformats.org/officeDocument/2006/relationships/slide" Target="slides/slide21.xml"/><Relationship Id="rId71" Type="http://schemas.openxmlformats.org/officeDocument/2006/relationships/slide" Target="slides/slide26.xml"/><Relationship Id="rId72" Type="http://schemas.openxmlformats.org/officeDocument/2006/relationships/slide" Target="slides/slide31.xml"/><Relationship Id="rId73" Type="http://schemas.openxmlformats.org/officeDocument/2006/relationships/slide" Target="slides/slide37.xml"/><Relationship Id="rId74" Type="http://schemas.openxmlformats.org/officeDocument/2006/relationships/slide" Target="slides/slide41.xml"/><Relationship Id="rId75" Type="http://schemas.openxmlformats.org/officeDocument/2006/relationships/slide" Target="slides/slide45.xml"/><Relationship Id="rId76" Type="http://schemas.openxmlformats.org/officeDocument/2006/relationships/slide" Target="slides/slide49.xml"/><Relationship Id="rId77" Type="http://schemas.openxmlformats.org/officeDocument/2006/relationships/slide" Target="slides/slide55.xml"/><Relationship Id="rId78" Type="http://schemas.openxmlformats.org/officeDocument/2006/relationships/slide" Target="slides/slide59.xml"/><Relationship Id="rId79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DD9FF"/>
                </a:solidFill>
              </a:rPr>
              <a:t>Real-Time Web Communication, MCP &amp; PWAs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FFD166"/>
                </a:solidFill>
              </a:rPr>
              <a:t>Web Development —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CEFF4"/>
                </a:solidFill>
              </a:rPr>
              <a:t>Polling · HTTP Streaming · SSE · WebSockets · SignalR · WebRTC · MCP · MCP Apps · Service Workers · Web Push · PWA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999AA"/>
                </a:solidFill>
              </a:rPr>
              <a:t>~3-hour lecture.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1. Why "real-time"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The web started as a pull medium. Users now expect push.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Chat, AI typing, dashboards, video, multiplayer — same question: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Who pushes data? When? Over which wire?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There is no "best" tech — only the right shape for the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2. Pick the communication model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Decide before you reach for an API: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Direction — S→C, C→S, both, peer↔peer?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Latency budget — ms, sec, "eventually"?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Fan-out — 1:1, 1:many, many:many?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Reliability — must every message arrive in order?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Lifecycle — short request, persistent, or background?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3. HTTP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Stateless, client-initiated, request → response.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Half-duplex per request.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Friendly to CDNs, caches, proxies.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Every real-time tech bends, replaces, or bypasses HTTP.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Still right for CRUD, search, downloads, form submits.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GitHub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 maintainer opens an issue in a dashboard. One HTTPS GET to GitHub's REST API returns its current details as JSON.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Conditional requests.Most endpoints return anETag; resend it asIf-None-Matchand unchanged data answers304 Not Modified.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Why it fits.A304to a correctly authorized request does not count against the primary rate limit.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Rate limits.60 requests/hour unauthenticated, 5,000/hour for authenticated users; after403/429wait forx-ratelimit-reset.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Trade-off.Still pull-only: GitHub says to subscribe to webhook events instead of polling the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docs.github.com/en/rest/using-the-rest-api/best-practices-for-using-the-rest-api · docs.github.com/en/rest/using-the-rest-api/rate-limits-for-the-rest-api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HTTP — when it's still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CRUD, REST, GraphQL queries/mutations.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User-initiated reads / form submits.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Latency budgets measured in seconds, not milliseconds.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4. HTTP 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Ask every 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6EEA9B"/>
                </a:solidFill>
              </a:rPr>
              <a:t>•  Pros: trivial, stateless, universal.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FF7474"/>
                </a:solidFill>
              </a:rPr>
              <a:t>•  Cons: wasted requests; detection delay up to one poll interval, plus server lag.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Client ──GET /updates──► Server (every 5s)
Client ──GET /updates──► Server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GitHub Events &amp; Notifications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 developer's notification tray periodically callsGET /notifications; each response ends, and new mentions appear on the next poll.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Server sets the pace.X-Poll-Interval: 60means poll at most every 60 s; the value can grow under load, so obey it.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Cheap empty polls.SendIf-None-Match(events) orIf-Modified-Since(notifications); nothing new →304, rate limit untouched.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Trade-off.Detection waits up to the next poll, plus API lag; public events can lag 30 s to 6 h ("not built to serve real-time use cases").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docs.github.com/en/rest/activity/events · docs.github.com/en/rest/activity/notifications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4. Long 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Server holds the response until data arrives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6EEA9B"/>
                </a:solidFill>
              </a:rPr>
              <a:t>•  Pros: near real-time, HTTP-friendly, survives proxies.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FF7474"/>
                </a:solidFill>
              </a:rPr>
              <a:t>•  Cons: many idle sockets; one message per round-trip.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Client ──GET /updates──► Server (holds…)
                          ↓ data arrives
Client ◄────payload───── Server
Client ──GET /updates──► Server (reconnects immediately)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Telegram Bot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 campus help-desk bot waits for a student's Telegram question. Its server callsgetUpdates; Telegram holds the response until a message arrives.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How it holds.timeout(seconds) keeps the request open until an update arrives;0is short polling, for testing only.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Acknowledge.The next call sendsoffset= lastupdate_id+ 1, which confirms earlier updates; they are kept at most 24 hours.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Also seen in.Socket.IO starts with HTTP long-polling, then upgrades; SignalR falls back to it after WebSockets and SSE.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core.telegram.org/bots/api#getupdates · socket.io/docs/v4/how-it-works · learn.microsoft.com/aspnet/core/signalr/introduction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Polling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"Is my batch job done?" status checks.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Low-frequency dashboards (≥ 30s tick).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Hostile-network fallback (hidden inside SignalR).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5. HTTP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One long response, body delivered in chunks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Client ──POST /chat──► Server
        ◄──chunk 1── (token 1)
        ◄──chunk 2── (token 2)
        ◄──────────  end of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999AA"/>
                </a:solidFill>
              </a:rPr>
              <a:t>This is how ChatGPT-style "typing" UIs work today.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a Pod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Scenario.An operations dashboard lists a deployment's Pods, then watches from that list'sresourceVersionto show restarts without repeated full downloads.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How it streams.GET /api/v1/namespaces/test/pods?watch=1keeps one JSON response open:ADDED / MODIFIED / DELETEDevents update the display.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Framing.HTTP/1.1 can use chunked transfer; HTTP/2 uses DATA frames. Parse JSON events, not network-chunk boundaries.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Resume.Every object has aresourceVersion; after a disconnect, start a new watch from the last one you saw.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Watch for.History is short (etcd 3: 5 minutes by default); an expired version returns410 Gone— list again, then re-watch.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kubernetes.io/docs/reference/using-api/api-concepts/ (efficient detection of changes)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HTTP Streaming —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Client can POST and stream back.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Binary-safe; no new protocol.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Works with auth headers, middleware, CDN.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Perfect for LLM token streaming.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No automatic reconnect — you write it.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No standard framing — agree on NDJSON, etc.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Buffering middleboxes can stall it.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One-way like SSE.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6. Server-Sent Events (SSE)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Standardized server→client streaming over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MIME type text/event-stream.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Browser EventSource API does the work.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Last-Event-ID enables resume.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Client ──GET /stream──► Server
      ◄── data: {…}
      ◄── event: update
           data: {…}
  (one persistent response, browser auto-reconnects)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Wikimedia EventStreams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 Wikipedia edit-monitor opensstream.wikimedia.org/v2/stream/recentchangewithEventSource; each pushed edit adds a row, filtered locally by wiki.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Resume.Each eventidencodes the Kafka position, so a reconnectingEventSourcesendsLast-Event-IDand resumes.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Watch for.One-way; filtering is client-side. Connections end after 15 minutes, so the client must reconnect.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Also SSE.LLM APIs: setstream: trueand the Anthropic Messages API sends tokens as server-sent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wikitech.wikimedia.org/wiki/Event_Platform/EventStreams_HTTP_Service · platform.claude.com/docs/en/build-with-claude/streaming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SSE — pros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Simplest persistent server→client channel.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Built-in reconnection &amp;Last-Event-IDresume.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Plays with every HTTP intermediary.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Ideal for LLM token streaming, dashboards, feeds.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SSE —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One-way only. Send back? Make a separate request.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Text/UTF-8 only.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EventSource cannot send custom headers(noAuthorization) — use cookies, short-lived tokens, orfetch-event-source.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Long-lived sockets cost memory and file descriptors.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SSE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AI / LLM token streaming.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Stock tickers, sensor data, build pipelines.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Live sports / election feeds, news, comments.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Log tailing in DevOps dashboards.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7. WebSockets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RFC 6455 — full-duplex persistent channel after HTTP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Client                       Server
──── GET /ws  Upgrade ────►
◄── 101 Switching Protocols ──
═══ framed text/binary   ═══►
◄═══ framed text/binary   ═══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Discord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 Discord moderation bot receives a new-message event overwss://gateway.discord.ggand flags it for review. Actions use Discord's separate HTTP API.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You own the lifecycle.Hello (heartbeat_interval) → Heartbeats → Identify (token, intents) → Ready (session_id).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Detect dead links.Each Heartbeat gets an ACK (opcode 11); no ACK means a "zombied" connection: close, reconnect, Resume.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Resume.Sendsession_id+ last sequence number (opcode 6); missed events are replayed in order.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Limits.Identify is capped at 1,000 per 24 hours across all shards; Resume calls do not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docs.discord.com/developers/events/gateway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WebSockets —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True bidirectional, low-latency messaging.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Text or binary payloads, optional compression.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Subprotocols (graphql-ws, mqtt, custom).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Browser-native everywhere.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WebSockets — pros vs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Lowest-overhead bidirectional channel.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Symmetrical — either side can speak.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Predictable latency.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Ecosystem in every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You own the lifecycle.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Sticky sessions + backplane to scale.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Proxy hostility — need pings.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No HTTP semantics after upgrade.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WebSockets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Chat &amp; collaboration (Slack, Teams, Discord).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Real-time collaborative editing (Google Docs, Figma).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Multiplayer games &amp; low-latency state sync.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Trading dashboards &amp; live auctions.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IoT control plane (often via MQTT subprotocol).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8. SignalR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Microsoft's high-level real-time library for ASP.NET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Negotiates transport: WebSockets → SSE → Long Polling.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Hub programming model — server methods, client callbacks.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Connection lifecycle, reconnection, serialization, groups.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Optional managed cloud: Azure SignalR Service.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DD9FF"/>
                </a:solidFill>
              </a:rPr>
              <a:t>Real world: Blazor Server and Azure SignalR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 warehouse clerk clicks "Pack order" in a Blazor Server screen. SignalR carries the click to the server-side C# component.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Return path.After authorization and a database update, the component renders a new status; SignalR sends the UI diff to that browser's circuit.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Scale-out.Microsoft recommends Azure SignalR Service for Blazor Server apps to scale to many concurrent connections.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Trade-off.Every user interaction is a network hop: higher latency, and no offline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learn.microsoft.com/aspnet/core/blazor/hosting-models · learn.microsoft.com/azure/azure-signalr/signalr-overview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SignalR — what you get for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Bidirectional RPC-style method calls.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Transparent transport fallback.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Groups, users, connection targeting.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Automatic reconnection.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ASP.NET Core auth integration.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Managed scale-out via Azure SignalR Service.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SignalR — pros vs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Huge productivity win on .NET.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Group targeting without a registry.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Built-in fallback + reconnection.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Clean cloud upgrade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Framework lock-in.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JSON default — use MessagePack at scale.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Silent long-polling fallback hides bugs.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Negotiation endpoint is a hotspot.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SignalR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Enterprise chat / collaboration on .NET.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Live ops / finance / support dashboards.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In-app real-time notifications.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Auctions, ticketing, order flow.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AI token streaming to .NET clients.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Signaling channel for WebRTC (next!).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9. WebRTC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Peer-to-peer audio, video, and data between browsers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Browser A ◄── Signaling Server ──► Browser B
           (SDP, ICE via WS / SignalR)
      │                                  │
      └──── Direct P2P (SRTP/DTLS) ──────┘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Jitsi Meet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 tutor and student join Jitsi Meet in their browsers. WebRTC carries encrypted microphone/camera media; signaling only arranges the call.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Two people.With exactly 2 participants it tries a direct P2P link (p2p.enabled); a 3rd person moves the call to the bridge.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Larger calls.Jitsi Videobridge, "a WebRTC-compatible Selective Forwarding Unit (SFU)", routes media between participants.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Signaling is separate.Prosody (XMPP) carries signaling; Jicofo manages media sessions and load-balances across videobridges.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github.com/jitsi/jitsi-meet (README, config.js) · github.com/jitsi/jitsi-videobridge · jitsi.github.io/handbook/docs/architecture/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WebRTC —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MediaStream — mic, camera, screen capture.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RTCPeerConnection — codecs, NAT, encryption, transport.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RTCDataChannel — arbitrary data (text, JSON, binary).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Signaling — your responsibility (WebSockets / SignalR).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WebRTC —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STUN — discover public IP behind NAT.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TURN — relay when peers can't connect (10–25% of sessions).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SFU — forward streams beyond ~4–6 peers.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MCU — mix/transcode for large meetings.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999AA"/>
                </a:solidFill>
              </a:rPr>
              <a:t>"Works on my LAN with just STUN" is a trap. Always test TURN.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WebRTC — pros vs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Sub-100ms latency A/V.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P2P saves bandwidth + latency.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Mandatory encryption.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Massive ecosystem.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Substantial complexity.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STUN / TURN / SFU infrastructure.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Mesh breaks past 4–6 peers.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Hard to observe server-side.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WebRTC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Video calling (Meet, Teams, Jitsi, Whereby).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Telehealth &amp; telemedicine.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Customer support video + screen share.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Browser-native multiplayer games (data channels).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P2P file transfer &amp; E2E-encrypted chat.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Live AI avatars / sub-second agents.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10. Service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JavaScript background script — programmable network proxy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Runs in a separate global, no DOM access.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Lifecycle: install / activate / fetch / push / sync.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Cache API + IndexedDB on device.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Foundation for offline, push, install.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Squoosh offline image editing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 designer loads Squoosh online, then compresses a local photo on a train without Wi-Fi. Compression stays on the device.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Squoosh.Hand-written worker:installprecaches into a versioned cache,activatedeletes old caches,fetchis cache-first.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Offline reload.The worker serves cached app assets instead of a failed network request; uncached assets still need connectivity.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Squoosh updates.Amessagehandler acceptsskip-waiting, so the page can activate a new worker.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github.com/GoogleChromeLabs/squoosh (README, src/sw). Previously loaded assets are required; a service worker does not make every page offline-ready.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Service Workers — caching strategies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Cache-first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Cache → network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Static assets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Network-first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Network → cache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Fresh API data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Stale-while-revalidate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Serve cache, refresh bg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Avatars, feeds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Cache-only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Cache, never network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Truly immutable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Network-only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Skip SW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Auth, payments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97880"/>
            <a:ext cx="114300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Generated alternative: Excalidraw uses vite-plugin-pwa / Workbox with autoUpdate. Fonts, locales and chunks are runtime-cached, not precached: CacheFirst, except fonts.css uses StaleWhileRevalidate. Source: github.com/excalidraw/excalidraw (README, excalidraw-app/vite.config.mts).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Service Workers — pros &amp;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Foundation for offline / push / install.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Massive perf wins on repeat visits.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Language-agnostic backend.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Cache invalidation is hard.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Lifecycle confuses everyone.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Buggy SW locks users into old version.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HTTPS required (localhost OK in dev).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11. Web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Deliver a notification while the tab is closed — a doorbell, not a data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Server ──VAPID-signed──► Push Service (FCM / Mozilla / Apple)
                                  │
                                  ▼
                       Service Worker `push` event
                                  │
                                  ▼
                       showNotification() → user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Mastodon Web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Scenario.After opting in, a Mastodon user closes the tab. A mention triggers Web Push; the browser wakes the worker to display a notification.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Subscribe.POST /api/v1/push/subscription(user token,pushscope) with the browser'sendpoint,p256dhandauthkeys.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Standards.subscription[standard]=trueselects RFC 8030 + 8291 + 8292 (VAPID); the response returnsserver_key.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Return to the app.Clicking opens the conversation and fetches current data. Delivery is best-effort, not a guaranteed message history.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Watch for.One subscription per access token (a new one replaces the old); no direct Android/Apple gateways, use a proxy.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docs.joinmastodon.org/methods/push/ · docs.joinmastodon.org/entities/WebPushSubscription/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Web Push — pros vs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Re-engages without an app store.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Uses vendor push infra.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Strong opt-in / revocable.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Permission friction.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iOS needs installed PWA (since 16.4).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Best-effort, ~4 KB payload.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Easy to abuse → users mute you.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Web Push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Chat / mention notifications while user is away.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Calendar / meeting reminders.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Order, shipping, ride-share status.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Time-sensitive alerts (price drops, breaking news).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12. Progressive Web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A pattern, not a single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 App Manifest — name, icons, theme.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Service Worker — proxy, cache, push.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HTTPS — non-negotiable.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Responsive UI, install prompt, offline, push, background sync.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Twitter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 commuter adds Twitter Lite to the home screen, reopens its cached shell on a weak connection, then loads fresh posts when online.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PWA parts.Service worker added in stages (offline page → static assets → app shell), Add to Home Screen, web push.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Reported results.65% more pages per session, 75% more Tweets sent, 20% lower bounce rate.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Footprint.600 KB over the wire vs 23.5 MB to install the Android app; returning visits boot in under 3 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Watch for.These are Twitter's own figures from the web.dev case study, not an independent benchmark.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Historical case study: default mobile web experience in April 2017. Cached shell ≠ every post available offline. Source: web.dev/case-studies/twitter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PWA — pros vs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Zero install friction.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One codebase, all platforms.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Auto updates.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Cheap MVP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iOS lags on some APIs.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Storage quotas can be reclaimed.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SW lifecycle learning curve.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Discoverability outside web.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PWA — examples in the wild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Twitter Lite, Pinterest, Starbucks, Uber.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News &amp; media (offline-on-the-train).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Field-service &amp; logistics in poor connectivity.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Internal tools that bypass the store.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Note-taking, time-tracking, productivity apps.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13. Adjacent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gRPC streaming — service-to-service; browser via gRPC-Web.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MQTT — IoT pub/sub; browser via WS bridge.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GraphQL subscriptions — live queries over WS/SSE.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WebTransport — HTTP/3 + QUIC; streams + datagrams.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Webhooks — server-to-server "I'll POST you when…".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BroadcastChannel / SharedWorker — tab coordination.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adjacent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gRPC streaming:a config service watches etcd keys; one bidirectional stream delivers changes for multiple watches.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MQTT:cold-room sensors publish temperatures to AWS IoT Core topics; subscribers receive readings with configured QoS/retention (MQTT 3.1.1/5).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GraphQL subscriptions:a Hasura order board receives updated query results over WebSocket (graphql-ws/ legacysubscriptions-transport-ws).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WebTransport:a browser media player receives MoQ media via a Cloudflare relay over QUIC streams, avoiding one ordered TCP stream.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Webhooks:Stripe POSTs a payment event to fulfillment; verifyStripe-Signature, queue work, acknowledge, and deduplicate retries.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BroadcastChannel:changing a setting in VS Code's web UI notifies other same-origin tabs to refresh stored state.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SharedWorker:a same-origin trading dashboard can share one WebSocket across tabs through worker ports, where supported.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etcd.io/docs · docs.aws.amazon.com/iot · hasura.io/docs · docs.stripe.com/webhooks · developers.cloudflare.com/moq · github.com/microsoft/vscode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13. Do not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FF7474"/>
                </a:solidFill>
              </a:rPr>
              <a:t>•  HTTP/2 Server Push — Chrome removed support in 2022.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Replace with: HTTP streaming, SSE, or &lt;link rel="preload"&gt;.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999AA"/>
                </a:solidFill>
              </a:rPr>
              <a:t>If AI-generated code reaches for it, replace.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14.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Anything real-time? No → REST. Stop.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Server → client only?  Low freq → polling.  High freq → SSE.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Both directions?  .NET → SignalR.  Else → WebSockets.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Audio / video / sub-100ms? → WebRTC + WS/SignalR signaling.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Tab closed engagement? → Web Push + Service Worker.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Installable + offline? → PWA on top of any of the above.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14. Cheat sheet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Tech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Sweet spot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Avoid for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Short polling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C↔S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"Is job done?"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High freq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Long polling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C↔S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Hostile networks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Bursty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HTTP streaming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S→C (POST)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LLM tokens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Needs reconnect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SSE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S→C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Dashboards, feeds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Chat / games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WebSockets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C↔S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Chat, collab, games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A/V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SignalR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C↔S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Real-time on .NET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Non-.NET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WebRTC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P↔P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A/V, P2P data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Notifications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Web Push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S→C bg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Doorbell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Bulk data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PWA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Installable, offline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Heavy native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15. Cross-cutting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Scaling — sticky sessions, backplanes, region locality, backpressure.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Security — TLS, JWT validated on connect AND per call, rate limits.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Observability — connection counts, p95 latency, reconnect rate, transport mix.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Cost — egress dominates; idle connections aren't free.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16. 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Open protocol connecting AI hosts to external tools and context.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Host owns the user experience; MCP clients connect to MCP servers.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JSON-RPC: each request carries protocol version and client capabilities in _meta; server/discover advertises server versions and capabilities.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MCP is an integration protocol, not a model or real-time event bus.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GitHub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Scenario.A maintainer asks GitHub Copilot to summarize an issue. The host discovers GitHub MCP Server tools, then requests the issue's details.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Data path.The server checks the user's GitHub permissions, reads the issue through GitHub's API, and returns structured context for the summary.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Remote (Streamable HTTP).Hosted by GitHub athttps://api.githubcopilot.com/mcp/; sign in with OAuth or a personal access token.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Local (stdio).Run the Docker imageghcr.io/github/github-mcp-serverwithGITHUB_PERSONAL_ACCESS_TOKENset.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Narrow the tools.Remote URLs select toolsets (/mcp/x/actions,/mcp/x/all); a/readonlysuffix limits to read-only tools.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ECEFF4"/>
                </a:solidFill>
              </a:rPr>
              <a:t>•  Watch for.GitHub Enterprise Server does not support remote server hosting, so use the local server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github.com/github/github-mcp-server (README.md, docs/remote-server.md)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MCP server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Tools: callable operations with descriptions, input schemas, handlers.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Resources: addressable context a client can read.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Prompts: reusable templates for common user tasks.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stdio: local process; keep stdout reserved for protocol messages.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Streamable HTTP: remote server; use HTTPS and authentication.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Implementing an MCP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Choose a narrow user task and expose the smallest useful operation.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Define a precise input schema and clear description.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Call existing services; validate inputs and authorize on the server.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Return bounded, structured results; make writes explicit/idempotent.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Test discovery, invalid inputs, auth, errors, cancellation, outages.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Use an official SDK; never expose credentials in tool results.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17. MCP Apps: tool + UI resource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 tool can link to an interactive HTML view through a ui:// resource.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 compatible host fetches the resource and renders a sandboxed iframe.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The Apps SDK handles initialization and the view-host JSON-RPC bridge.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The view requests tool calls through the host; the host mediates access.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Keep a useful normal tool result for hosts without Apps support.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Storybook in GitHub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Scenario.A developer asks GitHub Copilot in VS Code to preview a Storybook component, then checks its interactive states inside chat.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Tool → view.Storybook's MCP tool supplies a result linked to aui://HTML resource; the host loads it into a sandboxed iframe.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Interaction.The component handles clicks in the view; further tool requests go through the host's Apps bridge, not privileged direct access.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Fallback.Check the GitHub Copilot client's Apps support before class; unsupported hosts still receive text/structured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github.com/modelcontextprotocol/ext-apps · modelcontextprotocol.io/extensions/client-matrix · code.visualstudio.com/blogs/2026/01/26/mcp-apps-support · code.visualstudio.com/docs/agent-customization/mcp-servers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MCP Apps — safe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Build a focused view; request only required CSP origins and permissions.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Wait for host initialization; use the supported SDK bridge.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Never embed API keys or privileged credentials in HTML or tool output.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Re-check authorization in every server-side handler.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Support loading, empty, error, accessibility, and text fallback states.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MCP Apps — ecosystem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Theext-appsrepository includes a CesiumJS globe, PDF viewer, system monitor, and an Excalidraw demo in a compatible host.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The community client matrix lists GitHub Copilot in VS Code, Goose, Postman and others; support varies by client and version.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VS Code announced support on 26 January 2026; its documentation labels MCP Apps experimental. Verify the actual demo client.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999AA"/>
                </a:solidFill>
              </a:rPr>
              <a:t>Source: github.com/modelcontextprotocol/ext-apps · modelcontextprotocol.io/extensions/client-matrix · code.visualstudio.com/blogs/2026/01/26/mcp-apps-support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18. MCP + real-time: different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MCP command/context plane: discover tools, start actions, read resources.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Real-time event plane: ongoing progress, collaboration, or media.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MCP start_export call returns a job_id after authorization.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SSE / SignalR / WebSockets deliver authorized updates to the UI.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The MCP tool call and a long-lived event subscription are distinct.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Choose the channel for the event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SSE: one-way progress/status; reconnect with event IDs.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WebSockets / SignalR: bidirectional collaboration and frequent updates.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WebRTC: peer audio/video or peer data; signaling is separate.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 Push: background doorbell, not the live progress stream.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Use a status resource as source of truth after reconnects.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Integration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Correlate tool calls, job IDs, and events; job IDs outlive request IDs.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Authorize job creation, reads, subscriptions, and cancellation.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Handle ordering, duplicates, reconnect/resume, retention, terminal state.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Support timeouts, cancellation, bounded updates, and backpressure.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Keep credentials and sensitive payloads out of views and event logs.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MCP invokes the action; the real-time channel delivers the experience.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Real world: MCP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Streamable HTTP. Each client message is an HTTP POST; the reply is JSON or a text/event-stream (SSE) stream.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Progress. A progressToken in _meta makes the server stream notifications/progress on that response.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Live changes. subscriptions/listen holds a stream open for list_changed and resources/updated notifications.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Long jobs. Tasks extension: the server returns a task; the client polls tasks/get; task IDs survive disconnects.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Revision note. 2026-07-28 has no initialize, Mcp-Session-Id or SSE resume; after a broken stream, re-send the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999AA"/>
                </a:solidFill>
              </a:rPr>
              <a:t>Source: modelcontextprotocol.io/specification/2026-07-28 · modelcontextprotocol.io/extensions/tasks/overview. Spec revision checked: 2026-07-28.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19. Recap (one paragraph)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One paragraph that ties it all together: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HTTP pulls. Polling fakes push by asking on a loop.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HTTP streaming delivers one long chunked response (LLM tokens).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SSE standardizes that for S→C with auto-reconnect.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WebSockets turn HTTP into a bidirectional pipe.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SignalR wraps WS/SSE/long-polling in productive .NET form.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WebRTC opens encrypted P2P media + data between browsers.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Service Workers power offline &amp; background.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 Push rings the user's doorbell.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PWAs package it all into installable, offline-capable apps.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MCP standardizes host access to tools, resources, and prompts.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MCP Apps add an optional interactive view.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Pair MCP actions with SSE, SignalR, WebSockets, or WebRTC for ongoing updates or media.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4300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>
                <a:solidFill>
                  <a:srgbClr val="5DD9FF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